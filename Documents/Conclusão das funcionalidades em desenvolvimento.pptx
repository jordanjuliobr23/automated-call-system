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6858000" cy="9144000"/>
  <p:embeddedFontLst>
    <p:embeddedFont>
      <p:font typeface="Robo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h3Nbj0enHyHq7MHhgl44gi7t+7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oboto-regular.fntdata"/><Relationship Id="rId14" Type="http://schemas.openxmlformats.org/officeDocument/2006/relationships/slide" Target="slides/slide10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font" Target="fonts/Roboto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c861ef24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g39c861ef24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9cd8a76968_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g39cd8a76968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ac7969465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ac7969465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9cd8a769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9cd8a769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cd8a76968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39cd8a76968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cd8a76968_2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39cd8a76968_2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abdfc0a69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aabdfc0a69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abdfc0a6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abdfc0a6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raw.githubusercontent.com/Jordanjuliobr23/Automated-Call-System/refs/heads/main/Documents/Diagramas/models.png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www.youtube.com/watch?v=lw3VIbhpimI" TargetMode="External"/><Relationship Id="rId4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40200" y="980175"/>
            <a:ext cx="8463600" cy="146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500"/>
              <a:t>Conclusão das funcionalidades em desenvolvimento</a:t>
            </a:r>
            <a:endParaRPr b="1" sz="3900">
              <a:solidFill>
                <a:srgbClr val="2A2827"/>
              </a:solidFill>
              <a:highlight>
                <a:srgbClr val="FFFFFF"/>
              </a:highlight>
            </a:endParaRPr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140400" y="2888900"/>
            <a:ext cx="8520600" cy="17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>
                <a:solidFill>
                  <a:schemeClr val="dk1"/>
                </a:solidFill>
                <a:highlight>
                  <a:schemeClr val="lt1"/>
                </a:highlight>
              </a:rPr>
              <a:t>Docente: </a:t>
            </a:r>
            <a:r>
              <a:rPr lang="pt-BR" sz="2000">
                <a:solidFill>
                  <a:srgbClr val="151414"/>
                </a:solidFill>
                <a:highlight>
                  <a:srgbClr val="FFFFFF"/>
                </a:highlight>
              </a:rPr>
              <a:t>Rezembrim de Paula Soares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>
                <a:solidFill>
                  <a:schemeClr val="dk1"/>
                </a:solidFill>
                <a:highlight>
                  <a:schemeClr val="lt1"/>
                </a:highlight>
              </a:rPr>
              <a:t>Discentes: Ian Guilherme Duarte da Silva - 20232014050004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>
                <a:solidFill>
                  <a:schemeClr val="dk1"/>
                </a:solidFill>
                <a:highlight>
                  <a:schemeClr val="lt1"/>
                </a:highlight>
              </a:rPr>
              <a:t>                  Jordan Júlio Francelino da Silva - 20241014050014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>
                <a:solidFill>
                  <a:schemeClr val="dk1"/>
                </a:solidFill>
                <a:highlight>
                  <a:schemeClr val="lt1"/>
                </a:highlight>
              </a:rPr>
              <a:t>                  Pedro Jordan Cassiano Costa - 20221014050034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>
                <a:solidFill>
                  <a:schemeClr val="dk1"/>
                </a:solidFill>
                <a:highlight>
                  <a:schemeClr val="lt1"/>
                </a:highlight>
              </a:rPr>
              <a:t>                  Tamires Angélica da Silva Bezerra - 20221014050033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56" name="Google Shape;5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750" y="0"/>
            <a:ext cx="1903475" cy="83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9c861ef248_0_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8862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Sumário:</a:t>
            </a:r>
            <a:endParaRPr/>
          </a:p>
        </p:txBody>
      </p:sp>
      <p:sp>
        <p:nvSpPr>
          <p:cNvPr id="62" name="Google Shape;62;g39c861ef248_0_5"/>
          <p:cNvSpPr txBox="1"/>
          <p:nvPr>
            <p:ph idx="1" type="body"/>
          </p:nvPr>
        </p:nvSpPr>
        <p:spPr>
          <a:xfrm>
            <a:off x="171475" y="1357650"/>
            <a:ext cx="8520600" cy="28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pt-BR" sz="2000">
                <a:solidFill>
                  <a:schemeClr val="dk1"/>
                </a:solidFill>
              </a:rPr>
              <a:t>Abstração do banco de dados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pt-BR" sz="2000">
                <a:solidFill>
                  <a:schemeClr val="dk1"/>
                </a:solidFill>
              </a:rPr>
              <a:t>Andamento do banco de dados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pt-BR" sz="2000">
                <a:solidFill>
                  <a:schemeClr val="dk1"/>
                </a:solidFill>
              </a:rPr>
              <a:t>Andamento do dashboard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pt-BR" sz="2000">
                <a:solidFill>
                  <a:schemeClr val="dk1"/>
                </a:solidFill>
              </a:rPr>
              <a:t>Andamento do proxy reverso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pt-BR" sz="2000">
                <a:solidFill>
                  <a:schemeClr val="dk1"/>
                </a:solidFill>
              </a:rPr>
              <a:t>Estruturação</a:t>
            </a:r>
            <a:r>
              <a:rPr lang="pt-BR" sz="2000">
                <a:solidFill>
                  <a:schemeClr val="dk1"/>
                </a:solidFill>
              </a:rPr>
              <a:t> do docker-compose.yml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pt-BR" sz="2000">
                <a:solidFill>
                  <a:schemeClr val="dk1"/>
                </a:solidFill>
              </a:rPr>
              <a:t>Demandas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pt-BR" sz="2000">
                <a:solidFill>
                  <a:schemeClr val="dk1"/>
                </a:solidFill>
              </a:rPr>
              <a:t>Conclusões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"/>
          <p:cNvSpPr txBox="1"/>
          <p:nvPr>
            <p:ph type="title"/>
          </p:nvPr>
        </p:nvSpPr>
        <p:spPr>
          <a:xfrm>
            <a:off x="279413" y="1351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8862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Modelo banco de dados: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idx="1" type="body"/>
          </p:nvPr>
        </p:nvSpPr>
        <p:spPr>
          <a:xfrm>
            <a:off x="311700" y="836125"/>
            <a:ext cx="8520600" cy="28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100" u="sng">
                <a:solidFill>
                  <a:schemeClr val="hlink"/>
                </a:solidFill>
                <a:hlinkClick r:id="rId3"/>
              </a:rPr>
              <a:t>models.png (652×1122)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9cd8a76968_2_15"/>
          <p:cNvSpPr txBox="1"/>
          <p:nvPr>
            <p:ph type="title"/>
          </p:nvPr>
        </p:nvSpPr>
        <p:spPr>
          <a:xfrm>
            <a:off x="252675" y="1941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8862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Andamento do Banco de Dados:                               </a:t>
            </a:r>
            <a:endParaRPr/>
          </a:p>
        </p:txBody>
      </p:sp>
      <p:sp>
        <p:nvSpPr>
          <p:cNvPr id="74" name="Google Shape;74;g39cd8a76968_2_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5" name="Google Shape;75;g39cd8a76968_2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675" y="921800"/>
            <a:ext cx="7882001" cy="4125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ac7969465_0_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8862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Andamento do Dashboard: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g3aac7969465_0_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2" name="Google Shape;82;g3aac7969465_0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816625"/>
            <a:ext cx="6254475" cy="227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g3aac7969465_0_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152475"/>
            <a:ext cx="6254474" cy="70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9cd8a76968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8862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Andamento do Dashboard:</a:t>
            </a:r>
            <a:endParaRPr/>
          </a:p>
        </p:txBody>
      </p:sp>
      <p:sp>
        <p:nvSpPr>
          <p:cNvPr id="89" name="Google Shape;89;g39cd8a76968_0_0"/>
          <p:cNvSpPr txBox="1"/>
          <p:nvPr>
            <p:ph idx="1" type="body"/>
          </p:nvPr>
        </p:nvSpPr>
        <p:spPr>
          <a:xfrm>
            <a:off x="156500" y="14628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90" name="Google Shape;90;g39cd8a76968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500" y="1388225"/>
            <a:ext cx="3578923" cy="332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g39cd8a76968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77975" y="1462845"/>
            <a:ext cx="4699123" cy="3101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9cd8a76968_2_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8862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Andamento do proxy reverso:</a:t>
            </a:r>
            <a:endParaRPr/>
          </a:p>
        </p:txBody>
      </p:sp>
      <p:sp>
        <p:nvSpPr>
          <p:cNvPr id="97" name="Google Shape;97;g39cd8a76968_2_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98" name="Google Shape;98;g39cd8a76968_2_5" title="Andamento proxy reverso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16375" y="1293900"/>
            <a:ext cx="5822150" cy="327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cd8a76968_2_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Estruturação do docker-compose.yml:</a:t>
            </a:r>
            <a:endParaRPr/>
          </a:p>
        </p:txBody>
      </p:sp>
      <p:sp>
        <p:nvSpPr>
          <p:cNvPr id="104" name="Google Shape;104;g39cd8a76968_2_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05" name="Google Shape;105;g39cd8a76968_2_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250" y="1232100"/>
            <a:ext cx="4492350" cy="3257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g39cd8a76968_2_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21250" y="1232100"/>
            <a:ext cx="3671100" cy="3305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g39cd8a76968_2_37"/>
          <p:cNvSpPr txBox="1"/>
          <p:nvPr/>
        </p:nvSpPr>
        <p:spPr>
          <a:xfrm>
            <a:off x="464900" y="4612175"/>
            <a:ext cx="36711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rgbClr val="151414"/>
                </a:solidFill>
              </a:rPr>
              <a:t>docker-compose.yml - microsserviços</a:t>
            </a:r>
            <a:endParaRPr b="1" sz="1500">
              <a:solidFill>
                <a:srgbClr val="151414"/>
              </a:solidFill>
            </a:endParaRPr>
          </a:p>
        </p:txBody>
      </p:sp>
      <p:sp>
        <p:nvSpPr>
          <p:cNvPr id="108" name="Google Shape;108;g39cd8a76968_2_37"/>
          <p:cNvSpPr txBox="1"/>
          <p:nvPr/>
        </p:nvSpPr>
        <p:spPr>
          <a:xfrm>
            <a:off x="5637925" y="4612175"/>
            <a:ext cx="31584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chemeClr val="dk1"/>
                </a:solidFill>
              </a:rPr>
              <a:t>docker-compose.yml - Proxy</a:t>
            </a:r>
            <a:endParaRPr b="1"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abdfc0a69_1_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8862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Demandas:</a:t>
            </a:r>
            <a:endParaRPr/>
          </a:p>
        </p:txBody>
      </p:sp>
      <p:sp>
        <p:nvSpPr>
          <p:cNvPr id="114" name="Google Shape;114;g3aabdfc0a69_1_5"/>
          <p:cNvSpPr txBox="1"/>
          <p:nvPr>
            <p:ph idx="1" type="body"/>
          </p:nvPr>
        </p:nvSpPr>
        <p:spPr>
          <a:xfrm>
            <a:off x="311700" y="11303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00"/>
              <a:buChar char="-"/>
            </a:pPr>
            <a:r>
              <a:rPr b="1" lang="pt-BR">
                <a:solidFill>
                  <a:srgbClr val="FF9900"/>
                </a:solidFill>
              </a:rPr>
              <a:t>Iniciar o formulário para alimentar o banco de dados;</a:t>
            </a:r>
            <a:endParaRPr b="1">
              <a:solidFill>
                <a:srgbClr val="FF99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00"/>
              <a:buChar char="-"/>
            </a:pPr>
            <a:r>
              <a:rPr b="1" lang="pt-BR">
                <a:solidFill>
                  <a:srgbClr val="FF9900"/>
                </a:solidFill>
              </a:rPr>
              <a:t>Realização de testes para o banco de dados</a:t>
            </a:r>
            <a:endParaRPr b="1">
              <a:solidFill>
                <a:srgbClr val="FF99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800"/>
              <a:buChar char="-"/>
            </a:pPr>
            <a:r>
              <a:rPr b="1" lang="pt-BR">
                <a:solidFill>
                  <a:srgbClr val="FF00FF"/>
                </a:solidFill>
              </a:rPr>
              <a:t>Organizar o docker-</a:t>
            </a:r>
            <a:r>
              <a:rPr b="1" lang="pt-BR">
                <a:solidFill>
                  <a:srgbClr val="FF00FF"/>
                </a:solidFill>
              </a:rPr>
              <a:t>compose</a:t>
            </a:r>
            <a:r>
              <a:rPr b="1" lang="pt-BR">
                <a:solidFill>
                  <a:srgbClr val="FF00FF"/>
                </a:solidFill>
              </a:rPr>
              <a:t>.yml para os demais serviços (banco de dados e django)</a:t>
            </a:r>
            <a:endParaRPr b="1">
              <a:solidFill>
                <a:srgbClr val="FF00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800"/>
              <a:buChar char="-"/>
            </a:pPr>
            <a:r>
              <a:rPr b="1" lang="pt-BR">
                <a:solidFill>
                  <a:srgbClr val="FF9900"/>
                </a:solidFill>
              </a:rPr>
              <a:t>Organizar o dockerfile para o banco de dados;</a:t>
            </a:r>
            <a:endParaRPr b="1">
              <a:solidFill>
                <a:srgbClr val="FF99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00"/>
              <a:buChar char="-"/>
            </a:pPr>
            <a:r>
              <a:rPr b="1" lang="pt-BR">
                <a:solidFill>
                  <a:srgbClr val="FF0000"/>
                </a:solidFill>
              </a:rPr>
              <a:t>Organizar o dockerfile para o frontend django;</a:t>
            </a:r>
            <a:endParaRPr b="1">
              <a:solidFill>
                <a:srgbClr val="FF99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Char char="-"/>
            </a:pPr>
            <a:r>
              <a:rPr b="1" lang="pt-BR">
                <a:solidFill>
                  <a:srgbClr val="38761D"/>
                </a:solidFill>
              </a:rPr>
              <a:t>Integrar a geração dos qrs dentro do dashboard.</a:t>
            </a:r>
            <a:endParaRPr b="1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38761D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abdfc0a69_1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8862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Conclusões:</a:t>
            </a:r>
            <a:endParaRPr/>
          </a:p>
        </p:txBody>
      </p:sp>
      <p:sp>
        <p:nvSpPr>
          <p:cNvPr id="120" name="Google Shape;120;g3aabdfc0a69_1_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Criação das páginas para aluno e professor no django. </a:t>
            </a:r>
            <a:r>
              <a:rPr b="1" lang="pt-BR" sz="17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✅</a:t>
            </a:r>
            <a:endParaRPr sz="5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Criação do modelo final para o banco de dados (tabelas)</a:t>
            </a:r>
            <a:r>
              <a:rPr b="1" lang="pt-BR" sz="17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✅</a:t>
            </a:r>
            <a:endParaRPr sz="5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Realização do banco de dados </a:t>
            </a:r>
            <a:r>
              <a:rPr b="1" lang="pt-BR" sz="17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✅</a:t>
            </a:r>
            <a:endParaRPr sz="5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Realização do proxy reverso (nginx) </a:t>
            </a:r>
            <a:r>
              <a:rPr b="1" lang="pt-BR" sz="17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✅</a:t>
            </a:r>
            <a:endParaRPr sz="5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Funcionamento bem sucedido do proxy nginx </a:t>
            </a:r>
            <a:r>
              <a:rPr b="1" lang="pt-BR" sz="17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✅</a:t>
            </a:r>
            <a:endParaRPr sz="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